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sldIdLst>
    <p:sldId id="256" r:id="rId2"/>
    <p:sldId id="257" r:id="rId3"/>
    <p:sldId id="260" r:id="rId4"/>
    <p:sldId id="259" r:id="rId5"/>
    <p:sldId id="261" r:id="rId6"/>
    <p:sldId id="263" r:id="rId7"/>
    <p:sldId id="262" r:id="rId8"/>
    <p:sldId id="258" r:id="rId9"/>
    <p:sldId id="265" r:id="rId10"/>
    <p:sldId id="264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828DB5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7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795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9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37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0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7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28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86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4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5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E2900-20EC-4D12-AEFA-08156A1B14DE}" type="datetimeFigureOut">
              <a:rPr lang="en-US" smtClean="0"/>
              <a:t>6/28/2024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73CFC-230D-4DA0-BB78-2614E3CF384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3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967" y="322184"/>
            <a:ext cx="2145331" cy="62480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87" y="357434"/>
            <a:ext cx="2971383" cy="72933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733" y="-523673"/>
            <a:ext cx="2741579" cy="274157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396414" y="1826509"/>
            <a:ext cx="10038943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Conception et réalisation </a:t>
            </a:r>
          </a:p>
          <a:p>
            <a:pPr algn="ctr"/>
            <a:r>
              <a:rPr lang="fr-FR" sz="4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d’une plateforme éducative</a:t>
            </a:r>
          </a:p>
          <a:p>
            <a:pPr algn="ctr"/>
            <a:r>
              <a:rPr lang="fr-FR" sz="4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avec génération de supports </a:t>
            </a:r>
          </a:p>
          <a:p>
            <a:pPr algn="ctr"/>
            <a:r>
              <a:rPr lang="fr-FR" sz="4400" b="1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avec IA</a:t>
            </a:r>
          </a:p>
          <a:p>
            <a:endParaRPr lang="en-US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274919" y="4993399"/>
            <a:ext cx="5140967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Présenté par :  </a:t>
            </a:r>
          </a:p>
          <a:p>
            <a:pPr algn="ctr"/>
            <a:r>
              <a:rPr lang="fr-FR" sz="105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1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fr-FR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Reey" panose="00000500000000000000" pitchFamily="50" charset="0"/>
                <a:cs typeface="Poppins" panose="00000500000000000000" pitchFamily="2" charset="0"/>
              </a:rPr>
              <a:t>Idriss </a:t>
            </a:r>
            <a:r>
              <a:rPr lang="fr-FR" sz="2000" b="1" dirty="0">
                <a:solidFill>
                  <a:schemeClr val="bg1"/>
                </a:solidFill>
                <a:latin typeface="Reey" panose="00000500000000000000" pitchFamily="50" charset="0"/>
                <a:cs typeface="Poppins" panose="00000500000000000000" pitchFamily="2" charset="0"/>
              </a:rPr>
              <a:t>Kacem</a:t>
            </a:r>
          </a:p>
          <a:p>
            <a:pPr algn="ctr"/>
            <a:endParaRPr lang="fr-FR" sz="2000" b="1" dirty="0" smtClean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728092" y="4937509"/>
            <a:ext cx="6049978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Encadré par :  </a:t>
            </a:r>
          </a:p>
          <a:p>
            <a:pPr algn="ctr"/>
            <a:r>
              <a:rPr lang="fr-FR" sz="9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fr-FR" sz="2000" b="1" dirty="0" smtClean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Reey" panose="00000500000000000000" pitchFamily="50" charset="0"/>
                <a:cs typeface="Poppins" panose="00000500000000000000" pitchFamily="2" charset="0"/>
              </a:rPr>
              <a:t>Mahdi Mili </a:t>
            </a:r>
          </a:p>
          <a:p>
            <a:pPr algn="ctr"/>
            <a:r>
              <a:rPr lang="fr-FR" sz="2000" b="1" dirty="0" smtClean="0">
                <a:solidFill>
                  <a:schemeClr val="bg1"/>
                </a:solidFill>
                <a:latin typeface="Reey" panose="00000500000000000000" pitchFamily="50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fr-FR" sz="2000" b="1" dirty="0" err="1" smtClean="0">
                <a:solidFill>
                  <a:schemeClr val="bg1"/>
                </a:solidFill>
                <a:latin typeface="Reey" panose="00000500000000000000" pitchFamily="50" charset="0"/>
                <a:cs typeface="Poppins" panose="00000500000000000000" pitchFamily="2" charset="0"/>
              </a:rPr>
              <a:t>Ala</a:t>
            </a:r>
            <a:r>
              <a:rPr lang="fr-FR" sz="2000" b="1" dirty="0" smtClean="0">
                <a:solidFill>
                  <a:schemeClr val="bg1"/>
                </a:solidFill>
                <a:latin typeface="Reey" panose="00000500000000000000" pitchFamily="50" charset="0"/>
                <a:cs typeface="Poppins" panose="00000500000000000000" pitchFamily="2" charset="0"/>
              </a:rPr>
              <a:t> </a:t>
            </a:r>
            <a:r>
              <a:rPr lang="fr-FR" sz="2000" b="1" dirty="0">
                <a:solidFill>
                  <a:schemeClr val="bg1"/>
                </a:solidFill>
                <a:latin typeface="Reey" panose="00000500000000000000" pitchFamily="50" charset="0"/>
                <a:cs typeface="Poppins" panose="00000500000000000000" pitchFamily="2" charset="0"/>
              </a:rPr>
              <a:t>Eddine </a:t>
            </a:r>
            <a:r>
              <a:rPr lang="fr-FR" sz="2000" b="1" dirty="0" err="1" smtClean="0">
                <a:solidFill>
                  <a:schemeClr val="bg1"/>
                </a:solidFill>
                <a:latin typeface="Reey" panose="00000500000000000000" pitchFamily="50" charset="0"/>
                <a:cs typeface="Poppins" panose="00000500000000000000" pitchFamily="2" charset="0"/>
              </a:rPr>
              <a:t>Khouja</a:t>
            </a:r>
            <a:endParaRPr lang="fr-FR" sz="2000" b="1" dirty="0">
              <a:solidFill>
                <a:schemeClr val="bg1"/>
              </a:solidFill>
              <a:latin typeface="Reey" panose="00000500000000000000" pitchFamily="50" charset="0"/>
              <a:cs typeface="Poppins" panose="00000500000000000000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9714" y="5402894"/>
            <a:ext cx="185411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9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fr-FR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36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19717" y="555446"/>
            <a:ext cx="71593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Table des matières:</a:t>
            </a:r>
            <a:endParaRPr lang="en-US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8" name="Groupe 17"/>
          <p:cNvGrpSpPr/>
          <p:nvPr/>
        </p:nvGrpSpPr>
        <p:grpSpPr>
          <a:xfrm>
            <a:off x="1553633" y="2318208"/>
            <a:ext cx="795867" cy="795867"/>
            <a:chOff x="1553633" y="2318208"/>
            <a:chExt cx="795867" cy="795867"/>
          </a:xfrm>
        </p:grpSpPr>
        <p:sp>
          <p:nvSpPr>
            <p:cNvPr id="4" name="Ellipse 3"/>
            <p:cNvSpPr/>
            <p:nvPr/>
          </p:nvSpPr>
          <p:spPr>
            <a:xfrm>
              <a:off x="1553633" y="2318208"/>
              <a:ext cx="795867" cy="795867"/>
            </a:xfrm>
            <a:prstGeom prst="ellipse">
              <a:avLst/>
            </a:prstGeom>
            <a:solidFill>
              <a:srgbClr val="FF999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1710266" y="2387599"/>
              <a:ext cx="482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</a:t>
              </a:r>
              <a:endParaRPr lang="en-US" sz="4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1553633" y="3641351"/>
            <a:ext cx="795867" cy="795867"/>
            <a:chOff x="1553633" y="3641351"/>
            <a:chExt cx="795867" cy="795867"/>
          </a:xfrm>
        </p:grpSpPr>
        <p:sp>
          <p:nvSpPr>
            <p:cNvPr id="6" name="Ellipse 5"/>
            <p:cNvSpPr/>
            <p:nvPr/>
          </p:nvSpPr>
          <p:spPr>
            <a:xfrm>
              <a:off x="1553633" y="3641351"/>
              <a:ext cx="795867" cy="795867"/>
            </a:xfrm>
            <a:prstGeom prst="ellipse">
              <a:avLst/>
            </a:prstGeom>
            <a:solidFill>
              <a:srgbClr val="FF999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1710266" y="3710742"/>
              <a:ext cx="482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3</a:t>
              </a:r>
              <a:endParaRPr lang="en-US" sz="4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1553633" y="4961178"/>
            <a:ext cx="795867" cy="795867"/>
            <a:chOff x="1553633" y="4961178"/>
            <a:chExt cx="795867" cy="795867"/>
          </a:xfrm>
        </p:grpSpPr>
        <p:sp>
          <p:nvSpPr>
            <p:cNvPr id="8" name="Ellipse 7"/>
            <p:cNvSpPr/>
            <p:nvPr/>
          </p:nvSpPr>
          <p:spPr>
            <a:xfrm>
              <a:off x="1553633" y="4961178"/>
              <a:ext cx="795867" cy="795867"/>
            </a:xfrm>
            <a:prstGeom prst="ellipse">
              <a:avLst/>
            </a:prstGeom>
            <a:solidFill>
              <a:srgbClr val="FF999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1710266" y="5030569"/>
              <a:ext cx="482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5</a:t>
              </a:r>
              <a:endParaRPr lang="en-US" sz="4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1" name="Groupe 20"/>
          <p:cNvGrpSpPr/>
          <p:nvPr/>
        </p:nvGrpSpPr>
        <p:grpSpPr>
          <a:xfrm>
            <a:off x="6032500" y="4961178"/>
            <a:ext cx="795867" cy="795867"/>
            <a:chOff x="6032500" y="4961178"/>
            <a:chExt cx="795867" cy="795867"/>
          </a:xfrm>
        </p:grpSpPr>
        <p:sp>
          <p:nvSpPr>
            <p:cNvPr id="10" name="Ellipse 9"/>
            <p:cNvSpPr/>
            <p:nvPr/>
          </p:nvSpPr>
          <p:spPr>
            <a:xfrm>
              <a:off x="6032500" y="4961178"/>
              <a:ext cx="795867" cy="795867"/>
            </a:xfrm>
            <a:prstGeom prst="ellipse">
              <a:avLst/>
            </a:prstGeom>
            <a:solidFill>
              <a:srgbClr val="FF999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6189133" y="5030569"/>
              <a:ext cx="482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6</a:t>
              </a:r>
              <a:endParaRPr lang="en-US" sz="4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0" name="Groupe 19"/>
          <p:cNvGrpSpPr/>
          <p:nvPr/>
        </p:nvGrpSpPr>
        <p:grpSpPr>
          <a:xfrm>
            <a:off x="6032500" y="3641351"/>
            <a:ext cx="795867" cy="795867"/>
            <a:chOff x="6032500" y="3641351"/>
            <a:chExt cx="795867" cy="795867"/>
          </a:xfrm>
        </p:grpSpPr>
        <p:sp>
          <p:nvSpPr>
            <p:cNvPr id="12" name="Ellipse 11"/>
            <p:cNvSpPr/>
            <p:nvPr/>
          </p:nvSpPr>
          <p:spPr>
            <a:xfrm>
              <a:off x="6032500" y="3641351"/>
              <a:ext cx="795867" cy="795867"/>
            </a:xfrm>
            <a:prstGeom prst="ellipse">
              <a:avLst/>
            </a:prstGeom>
            <a:solidFill>
              <a:srgbClr val="FF999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6189133" y="3710742"/>
              <a:ext cx="482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4</a:t>
              </a:r>
              <a:endParaRPr lang="en-US" sz="4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9" name="Groupe 18"/>
          <p:cNvGrpSpPr/>
          <p:nvPr/>
        </p:nvGrpSpPr>
        <p:grpSpPr>
          <a:xfrm>
            <a:off x="6032500" y="2318208"/>
            <a:ext cx="795867" cy="795867"/>
            <a:chOff x="6032500" y="2318208"/>
            <a:chExt cx="795867" cy="795867"/>
          </a:xfrm>
        </p:grpSpPr>
        <p:sp>
          <p:nvSpPr>
            <p:cNvPr id="14" name="Ellipse 13"/>
            <p:cNvSpPr/>
            <p:nvPr/>
          </p:nvSpPr>
          <p:spPr>
            <a:xfrm>
              <a:off x="6032500" y="2318208"/>
              <a:ext cx="795867" cy="795867"/>
            </a:xfrm>
            <a:prstGeom prst="ellipse">
              <a:avLst/>
            </a:prstGeom>
            <a:solidFill>
              <a:srgbClr val="FF999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6189133" y="2387599"/>
              <a:ext cx="482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2</a:t>
              </a:r>
              <a:endParaRPr lang="en-US" sz="4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2868083" y="2516086"/>
            <a:ext cx="2645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7200899" y="2454531"/>
            <a:ext cx="5050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Analyse &amp; spécification </a:t>
            </a:r>
          </a:p>
          <a:p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 besoins</a:t>
            </a:r>
            <a:endParaRPr lang="en-U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2868083" y="3864630"/>
            <a:ext cx="1729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Conception</a:t>
            </a:r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2868083" y="5159056"/>
            <a:ext cx="3007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Démonstration</a:t>
            </a:r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7200899" y="3864630"/>
            <a:ext cx="1729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Réalisation</a:t>
            </a:r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7200899" y="5159056"/>
            <a:ext cx="3007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Conclusion</a:t>
            </a:r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81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98249" y="2567045"/>
            <a:ext cx="8738886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96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  <a:endParaRPr lang="fr-FR" sz="96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10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260482" y="512353"/>
            <a:ext cx="10354117" cy="21544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algn="ctr">
              <a:defRPr sz="5400" b="1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fr-FR" sz="4000" dirty="0"/>
              <a:t>Contexte académique </a:t>
            </a:r>
            <a:r>
              <a:rPr lang="fr-FR" sz="4000" dirty="0" smtClean="0"/>
              <a:t>et </a:t>
            </a:r>
            <a:r>
              <a:rPr lang="fr-FR" sz="4000" dirty="0"/>
              <a:t>présentation </a:t>
            </a:r>
            <a:endParaRPr lang="fr-FR" sz="4000" dirty="0" smtClean="0"/>
          </a:p>
          <a:p>
            <a:r>
              <a:rPr lang="fr-FR" sz="4000" dirty="0" smtClean="0"/>
              <a:t>de </a:t>
            </a:r>
            <a:r>
              <a:rPr lang="fr-FR" sz="4000" dirty="0"/>
              <a:t>l’organisme d’accueil </a:t>
            </a:r>
            <a:endParaRPr lang="en-US" sz="4000" dirty="0"/>
          </a:p>
          <a:p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723" y="3141065"/>
            <a:ext cx="6041211" cy="148284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319498" y="4535166"/>
            <a:ext cx="2159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 err="1" smtClean="0"/>
              <a:t>Serveur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cloud</a:t>
            </a:r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2319498" y="3663970"/>
            <a:ext cx="2159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fr-FR" dirty="0" smtClean="0"/>
              <a:t>Domaine</a:t>
            </a:r>
            <a:endParaRPr lang="en-US" dirty="0"/>
          </a:p>
        </p:txBody>
      </p:sp>
      <p:sp>
        <p:nvSpPr>
          <p:cNvPr id="7" name="ZoneTexte 6"/>
          <p:cNvSpPr txBox="1"/>
          <p:nvPr/>
        </p:nvSpPr>
        <p:spPr>
          <a:xfrm>
            <a:off x="2319497" y="2740955"/>
            <a:ext cx="2159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 smtClean="0"/>
              <a:t>Solutions web</a:t>
            </a:r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2319499" y="5477338"/>
            <a:ext cx="2159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 err="1" smtClean="0"/>
              <a:t>MailSuite</a:t>
            </a:r>
            <a:endParaRPr lang="en-US" dirty="0"/>
          </a:p>
        </p:txBody>
      </p:sp>
      <p:grpSp>
        <p:nvGrpSpPr>
          <p:cNvPr id="16" name="Groupe 15"/>
          <p:cNvGrpSpPr/>
          <p:nvPr/>
        </p:nvGrpSpPr>
        <p:grpSpPr>
          <a:xfrm>
            <a:off x="1151291" y="2525686"/>
            <a:ext cx="795867" cy="795867"/>
            <a:chOff x="585234" y="1461453"/>
            <a:chExt cx="795867" cy="795867"/>
          </a:xfrm>
        </p:grpSpPr>
        <p:grpSp>
          <p:nvGrpSpPr>
            <p:cNvPr id="13" name="Groupe 12"/>
            <p:cNvGrpSpPr/>
            <p:nvPr/>
          </p:nvGrpSpPr>
          <p:grpSpPr>
            <a:xfrm>
              <a:off x="585234" y="1461453"/>
              <a:ext cx="795867" cy="795867"/>
              <a:chOff x="1553633" y="2318208"/>
              <a:chExt cx="795867" cy="795867"/>
            </a:xfrm>
          </p:grpSpPr>
          <p:sp>
            <p:nvSpPr>
              <p:cNvPr id="14" name="Ellipse 13"/>
              <p:cNvSpPr/>
              <p:nvPr/>
            </p:nvSpPr>
            <p:spPr>
              <a:xfrm>
                <a:off x="1553633" y="2318208"/>
                <a:ext cx="795867" cy="795867"/>
              </a:xfrm>
              <a:prstGeom prst="ellipse">
                <a:avLst/>
              </a:prstGeom>
              <a:solidFill>
                <a:srgbClr val="FF9999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en-US"/>
              </a:p>
            </p:txBody>
          </p:sp>
          <p:sp>
            <p:nvSpPr>
              <p:cNvPr id="15" name="ZoneTexte 14"/>
              <p:cNvSpPr txBox="1"/>
              <p:nvPr/>
            </p:nvSpPr>
            <p:spPr>
              <a:xfrm>
                <a:off x="1710266" y="2387599"/>
                <a:ext cx="482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3060" y="1566670"/>
              <a:ext cx="620214" cy="620214"/>
            </a:xfrm>
            <a:prstGeom prst="rect">
              <a:avLst/>
            </a:prstGeom>
          </p:spPr>
        </p:pic>
      </p:grpSp>
      <p:grpSp>
        <p:nvGrpSpPr>
          <p:cNvPr id="34" name="Groupe 33"/>
          <p:cNvGrpSpPr/>
          <p:nvPr/>
        </p:nvGrpSpPr>
        <p:grpSpPr>
          <a:xfrm>
            <a:off x="1151291" y="3435516"/>
            <a:ext cx="795867" cy="795867"/>
            <a:chOff x="576527" y="3483153"/>
            <a:chExt cx="795867" cy="795867"/>
          </a:xfrm>
        </p:grpSpPr>
        <p:grpSp>
          <p:nvGrpSpPr>
            <p:cNvPr id="28" name="Groupe 27"/>
            <p:cNvGrpSpPr/>
            <p:nvPr/>
          </p:nvGrpSpPr>
          <p:grpSpPr>
            <a:xfrm>
              <a:off x="576527" y="3483153"/>
              <a:ext cx="795867" cy="795867"/>
              <a:chOff x="1553633" y="2318208"/>
              <a:chExt cx="795867" cy="795867"/>
            </a:xfrm>
          </p:grpSpPr>
          <p:sp>
            <p:nvSpPr>
              <p:cNvPr id="30" name="Ellipse 29"/>
              <p:cNvSpPr/>
              <p:nvPr/>
            </p:nvSpPr>
            <p:spPr>
              <a:xfrm>
                <a:off x="1553633" y="2318208"/>
                <a:ext cx="795867" cy="795867"/>
              </a:xfrm>
              <a:prstGeom prst="ellipse">
                <a:avLst/>
              </a:prstGeom>
              <a:solidFill>
                <a:srgbClr val="FF9999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en-US"/>
              </a:p>
            </p:txBody>
          </p:sp>
          <p:sp>
            <p:nvSpPr>
              <p:cNvPr id="31" name="ZoneTexte 30"/>
              <p:cNvSpPr txBox="1"/>
              <p:nvPr/>
            </p:nvSpPr>
            <p:spPr>
              <a:xfrm>
                <a:off x="1710266" y="2387599"/>
                <a:ext cx="482600" cy="7078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just"/>
                <a:endPara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855" y="3609258"/>
              <a:ext cx="554627" cy="554627"/>
            </a:xfrm>
            <a:prstGeom prst="rect">
              <a:avLst/>
            </a:prstGeom>
          </p:spPr>
        </p:pic>
      </p:grpSp>
      <p:grpSp>
        <p:nvGrpSpPr>
          <p:cNvPr id="32" name="Groupe 31"/>
          <p:cNvGrpSpPr/>
          <p:nvPr/>
        </p:nvGrpSpPr>
        <p:grpSpPr>
          <a:xfrm>
            <a:off x="1151291" y="4357488"/>
            <a:ext cx="795867" cy="795867"/>
            <a:chOff x="4200638" y="4372422"/>
            <a:chExt cx="795867" cy="795867"/>
          </a:xfrm>
        </p:grpSpPr>
        <p:grpSp>
          <p:nvGrpSpPr>
            <p:cNvPr id="23" name="Groupe 22"/>
            <p:cNvGrpSpPr/>
            <p:nvPr/>
          </p:nvGrpSpPr>
          <p:grpSpPr>
            <a:xfrm>
              <a:off x="4200638" y="4372422"/>
              <a:ext cx="795867" cy="795867"/>
              <a:chOff x="1553633" y="2318208"/>
              <a:chExt cx="795867" cy="795867"/>
            </a:xfrm>
          </p:grpSpPr>
          <p:sp>
            <p:nvSpPr>
              <p:cNvPr id="25" name="Ellipse 24"/>
              <p:cNvSpPr/>
              <p:nvPr/>
            </p:nvSpPr>
            <p:spPr>
              <a:xfrm>
                <a:off x="1553633" y="2318208"/>
                <a:ext cx="795867" cy="795867"/>
              </a:xfrm>
              <a:prstGeom prst="ellipse">
                <a:avLst/>
              </a:prstGeom>
              <a:solidFill>
                <a:srgbClr val="FF9999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en-US"/>
              </a:p>
            </p:txBody>
          </p:sp>
          <p:sp>
            <p:nvSpPr>
              <p:cNvPr id="26" name="ZoneTexte 25"/>
              <p:cNvSpPr txBox="1"/>
              <p:nvPr/>
            </p:nvSpPr>
            <p:spPr>
              <a:xfrm>
                <a:off x="1710266" y="2387599"/>
                <a:ext cx="482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7503" y="4425252"/>
              <a:ext cx="622135" cy="622135"/>
            </a:xfrm>
            <a:prstGeom prst="rect">
              <a:avLst/>
            </a:prstGeom>
          </p:spPr>
        </p:pic>
      </p:grpSp>
      <p:grpSp>
        <p:nvGrpSpPr>
          <p:cNvPr id="33" name="Groupe 32"/>
          <p:cNvGrpSpPr/>
          <p:nvPr/>
        </p:nvGrpSpPr>
        <p:grpSpPr>
          <a:xfrm>
            <a:off x="1159998" y="5279460"/>
            <a:ext cx="795867" cy="795867"/>
            <a:chOff x="593943" y="5340726"/>
            <a:chExt cx="795867" cy="795867"/>
          </a:xfrm>
        </p:grpSpPr>
        <p:grpSp>
          <p:nvGrpSpPr>
            <p:cNvPr id="18" name="Groupe 17"/>
            <p:cNvGrpSpPr/>
            <p:nvPr/>
          </p:nvGrpSpPr>
          <p:grpSpPr>
            <a:xfrm>
              <a:off x="593943" y="5340726"/>
              <a:ext cx="795867" cy="795867"/>
              <a:chOff x="1553633" y="2318208"/>
              <a:chExt cx="795867" cy="795867"/>
            </a:xfrm>
          </p:grpSpPr>
          <p:sp>
            <p:nvSpPr>
              <p:cNvPr id="20" name="Ellipse 19"/>
              <p:cNvSpPr/>
              <p:nvPr/>
            </p:nvSpPr>
            <p:spPr>
              <a:xfrm>
                <a:off x="1553633" y="2318208"/>
                <a:ext cx="795867" cy="795867"/>
              </a:xfrm>
              <a:prstGeom prst="ellipse">
                <a:avLst/>
              </a:prstGeom>
              <a:solidFill>
                <a:srgbClr val="FF9999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en-US"/>
              </a:p>
            </p:txBody>
          </p:sp>
          <p:sp>
            <p:nvSpPr>
              <p:cNvPr id="21" name="ZoneTexte 20"/>
              <p:cNvSpPr txBox="1"/>
              <p:nvPr/>
            </p:nvSpPr>
            <p:spPr>
              <a:xfrm>
                <a:off x="1710266" y="2387599"/>
                <a:ext cx="4826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endParaRPr lang="en-US" sz="40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224" y="5473279"/>
              <a:ext cx="548039" cy="5480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2791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rganigramme : Alternative 4"/>
          <p:cNvSpPr/>
          <p:nvPr/>
        </p:nvSpPr>
        <p:spPr>
          <a:xfrm>
            <a:off x="5239811" y="2056722"/>
            <a:ext cx="5240867" cy="872067"/>
          </a:xfrm>
          <a:prstGeom prst="flowChartAlternateProcess">
            <a:avLst/>
          </a:prstGeom>
          <a:solidFill>
            <a:srgbClr val="FF999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Texte 3"/>
          <p:cNvSpPr txBox="1"/>
          <p:nvPr/>
        </p:nvSpPr>
        <p:spPr>
          <a:xfrm>
            <a:off x="5313894" y="2139247"/>
            <a:ext cx="509269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fr-FR" dirty="0"/>
              <a:t>Absence de génération automatique d'examens personnalisés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516795" y="502490"/>
            <a:ext cx="5503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Problématique</a:t>
            </a:r>
            <a:endParaRPr lang="fr-FR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3" name="Groupe 12"/>
          <p:cNvGrpSpPr/>
          <p:nvPr/>
        </p:nvGrpSpPr>
        <p:grpSpPr>
          <a:xfrm>
            <a:off x="5239811" y="4238764"/>
            <a:ext cx="4026849" cy="863599"/>
            <a:chOff x="2108200" y="4241799"/>
            <a:chExt cx="4097867" cy="863599"/>
          </a:xfrm>
        </p:grpSpPr>
        <p:sp>
          <p:nvSpPr>
            <p:cNvPr id="6" name="Organigramme : Alternative 5"/>
            <p:cNvSpPr/>
            <p:nvPr/>
          </p:nvSpPr>
          <p:spPr>
            <a:xfrm>
              <a:off x="2108200" y="4241799"/>
              <a:ext cx="4097867" cy="863599"/>
            </a:xfrm>
            <a:prstGeom prst="flowChartAlternateProcess">
              <a:avLst/>
            </a:prstGeom>
            <a:solidFill>
              <a:srgbClr val="FF999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2196994" y="4323965"/>
              <a:ext cx="3920279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r>
                <a:rPr lang="fr-FR" dirty="0"/>
                <a:t>Charge de travail excessive pour les enseignants</a:t>
              </a:r>
              <a:endParaRPr lang="en-US" dirty="0"/>
            </a:p>
          </p:txBody>
        </p:sp>
      </p:grpSp>
      <p:sp>
        <p:nvSpPr>
          <p:cNvPr id="8" name="Organigramme : Alternative 7"/>
          <p:cNvSpPr/>
          <p:nvPr/>
        </p:nvSpPr>
        <p:spPr>
          <a:xfrm>
            <a:off x="5239811" y="3120526"/>
            <a:ext cx="4051298" cy="856160"/>
          </a:xfrm>
          <a:prstGeom prst="flowChartAlternateProcess">
            <a:avLst/>
          </a:prstGeom>
          <a:solidFill>
            <a:srgbClr val="FF999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/>
          <p:cNvSpPr txBox="1"/>
          <p:nvPr/>
        </p:nvSpPr>
        <p:spPr>
          <a:xfrm>
            <a:off x="5263094" y="3186634"/>
            <a:ext cx="405129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Manque de personnalisation de l'apprentissage</a:t>
            </a:r>
            <a:endParaRPr lang="en-US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5239811" y="5364441"/>
            <a:ext cx="3759200" cy="872066"/>
            <a:chOff x="6731001" y="4555067"/>
            <a:chExt cx="3759200" cy="872066"/>
          </a:xfrm>
        </p:grpSpPr>
        <p:sp>
          <p:nvSpPr>
            <p:cNvPr id="10" name="Organigramme : Alternative 9"/>
            <p:cNvSpPr/>
            <p:nvPr/>
          </p:nvSpPr>
          <p:spPr>
            <a:xfrm>
              <a:off x="6731001" y="4555067"/>
              <a:ext cx="3759200" cy="872066"/>
            </a:xfrm>
            <a:prstGeom prst="flowChartAlternateProcess">
              <a:avLst/>
            </a:prstGeom>
            <a:solidFill>
              <a:srgbClr val="FF999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6836835" y="4638788"/>
              <a:ext cx="35898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000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r>
                <a:rPr lang="fr-FR" dirty="0"/>
                <a:t>Accès limité </a:t>
              </a:r>
              <a:r>
                <a:rPr lang="fr-FR" dirty="0" smtClean="0"/>
                <a:t>aux </a:t>
              </a:r>
              <a:r>
                <a:rPr lang="fr-FR" dirty="0"/>
                <a:t>contenus éducatifs</a:t>
              </a:r>
              <a:endParaRPr lang="en-US" dirty="0"/>
            </a:p>
          </p:txBody>
        </p:sp>
      </p:grpSp>
      <p:pic>
        <p:nvPicPr>
          <p:cNvPr id="16" name="Imag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70" y="2056722"/>
            <a:ext cx="4176886" cy="417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3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075" y="1545291"/>
            <a:ext cx="8753475" cy="47625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654583" y="386811"/>
            <a:ext cx="67361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Etude de l’</a:t>
            </a:r>
            <a:r>
              <a:rPr lang="fr-FR" sz="5400" b="1" dirty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e</a:t>
            </a:r>
            <a:r>
              <a:rPr lang="fr-FR" sz="5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xistant</a:t>
            </a:r>
            <a:endParaRPr lang="fr-FR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5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65964" y="386811"/>
            <a:ext cx="31133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Solution</a:t>
            </a:r>
            <a:endParaRPr lang="fr-FR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279" y="1640960"/>
            <a:ext cx="4236725" cy="4236725"/>
          </a:xfrm>
          <a:prstGeom prst="rect">
            <a:avLst/>
          </a:prstGeom>
        </p:spPr>
      </p:pic>
      <p:grpSp>
        <p:nvGrpSpPr>
          <p:cNvPr id="38" name="Groupe 37"/>
          <p:cNvGrpSpPr/>
          <p:nvPr/>
        </p:nvGrpSpPr>
        <p:grpSpPr>
          <a:xfrm>
            <a:off x="8214149" y="4197184"/>
            <a:ext cx="2219686" cy="1923620"/>
            <a:chOff x="4033071" y="4100658"/>
            <a:chExt cx="2219686" cy="1923620"/>
          </a:xfrm>
        </p:grpSpPr>
        <p:grpSp>
          <p:nvGrpSpPr>
            <p:cNvPr id="20" name="Groupe 19"/>
            <p:cNvGrpSpPr/>
            <p:nvPr/>
          </p:nvGrpSpPr>
          <p:grpSpPr>
            <a:xfrm>
              <a:off x="4444225" y="4100658"/>
              <a:ext cx="1397378" cy="1378792"/>
              <a:chOff x="729785" y="2918794"/>
              <a:chExt cx="1128160" cy="1101924"/>
            </a:xfrm>
          </p:grpSpPr>
          <p:sp>
            <p:nvSpPr>
              <p:cNvPr id="18" name="Ellipse 17"/>
              <p:cNvSpPr/>
              <p:nvPr/>
            </p:nvSpPr>
            <p:spPr>
              <a:xfrm>
                <a:off x="729785" y="2918794"/>
                <a:ext cx="1128160" cy="1101924"/>
              </a:xfrm>
              <a:prstGeom prst="ellipse">
                <a:avLst/>
              </a:prstGeom>
              <a:solidFill>
                <a:srgbClr val="FF9999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" name="Image 6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1521" y="3065763"/>
                <a:ext cx="807985" cy="807985"/>
              </a:xfrm>
              <a:prstGeom prst="rect">
                <a:avLst/>
              </a:prstGeom>
            </p:spPr>
          </p:pic>
        </p:grpSp>
        <p:sp>
          <p:nvSpPr>
            <p:cNvPr id="26" name="ZoneTexte 25"/>
            <p:cNvSpPr txBox="1"/>
            <p:nvPr/>
          </p:nvSpPr>
          <p:spPr>
            <a:xfrm>
              <a:off x="4033071" y="5624168"/>
              <a:ext cx="22196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Gérer son profil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7" name="Groupe 36"/>
          <p:cNvGrpSpPr/>
          <p:nvPr/>
        </p:nvGrpSpPr>
        <p:grpSpPr>
          <a:xfrm>
            <a:off x="7613130" y="1360624"/>
            <a:ext cx="3486287" cy="2406650"/>
            <a:chOff x="80217" y="3841324"/>
            <a:chExt cx="3486287" cy="2406650"/>
          </a:xfrm>
        </p:grpSpPr>
        <p:grpSp>
          <p:nvGrpSpPr>
            <p:cNvPr id="16" name="Groupe 15"/>
            <p:cNvGrpSpPr/>
            <p:nvPr/>
          </p:nvGrpSpPr>
          <p:grpSpPr>
            <a:xfrm>
              <a:off x="911245" y="3841324"/>
              <a:ext cx="1824233" cy="1887138"/>
              <a:chOff x="2610250" y="1595919"/>
              <a:chExt cx="1515430" cy="1567686"/>
            </a:xfrm>
          </p:grpSpPr>
          <p:sp>
            <p:nvSpPr>
              <p:cNvPr id="15" name="Ellipse 14"/>
              <p:cNvSpPr/>
              <p:nvPr/>
            </p:nvSpPr>
            <p:spPr>
              <a:xfrm>
                <a:off x="2777067" y="1828800"/>
                <a:ext cx="1128160" cy="1101924"/>
              </a:xfrm>
              <a:prstGeom prst="ellipse">
                <a:avLst/>
              </a:prstGeom>
              <a:solidFill>
                <a:srgbClr val="FF9999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" name="Image 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10250" y="1595919"/>
                <a:ext cx="1515430" cy="1567686"/>
              </a:xfrm>
              <a:prstGeom prst="rect">
                <a:avLst/>
              </a:prstGeom>
            </p:spPr>
          </p:pic>
        </p:grpSp>
        <p:sp>
          <p:nvSpPr>
            <p:cNvPr id="28" name="ZoneTexte 27"/>
            <p:cNvSpPr txBox="1"/>
            <p:nvPr/>
          </p:nvSpPr>
          <p:spPr>
            <a:xfrm>
              <a:off x="80217" y="5540088"/>
              <a:ext cx="34862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Générer les supports </a:t>
              </a:r>
            </a:p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personnalisés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9" name="Groupe 38"/>
          <p:cNvGrpSpPr/>
          <p:nvPr/>
        </p:nvGrpSpPr>
        <p:grpSpPr>
          <a:xfrm>
            <a:off x="1488191" y="1640960"/>
            <a:ext cx="2449901" cy="2192474"/>
            <a:chOff x="589632" y="1574800"/>
            <a:chExt cx="2449901" cy="2192474"/>
          </a:xfrm>
        </p:grpSpPr>
        <p:grpSp>
          <p:nvGrpSpPr>
            <p:cNvPr id="25" name="Groupe 24"/>
            <p:cNvGrpSpPr/>
            <p:nvPr/>
          </p:nvGrpSpPr>
          <p:grpSpPr>
            <a:xfrm>
              <a:off x="1117553" y="1574800"/>
              <a:ext cx="1411620" cy="1378792"/>
              <a:chOff x="5507500" y="3881224"/>
              <a:chExt cx="1128160" cy="1101924"/>
            </a:xfrm>
          </p:grpSpPr>
          <p:sp>
            <p:nvSpPr>
              <p:cNvPr id="23" name="Ellipse 22"/>
              <p:cNvSpPr/>
              <p:nvPr/>
            </p:nvSpPr>
            <p:spPr>
              <a:xfrm>
                <a:off x="5507500" y="3881224"/>
                <a:ext cx="1128160" cy="1101924"/>
              </a:xfrm>
              <a:prstGeom prst="ellipse">
                <a:avLst/>
              </a:prstGeom>
              <a:solidFill>
                <a:srgbClr val="FF9999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05547" y="4066153"/>
                <a:ext cx="732066" cy="732066"/>
              </a:xfrm>
              <a:prstGeom prst="rect">
                <a:avLst/>
              </a:prstGeom>
            </p:spPr>
          </p:pic>
        </p:grpSp>
        <p:sp>
          <p:nvSpPr>
            <p:cNvPr id="29" name="ZoneTexte 28"/>
            <p:cNvSpPr txBox="1"/>
            <p:nvPr/>
          </p:nvSpPr>
          <p:spPr>
            <a:xfrm>
              <a:off x="589632" y="3059388"/>
              <a:ext cx="24499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Accéder à tous </a:t>
              </a:r>
            </a:p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les cours en ligne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6" name="Groupe 35"/>
          <p:cNvGrpSpPr/>
          <p:nvPr/>
        </p:nvGrpSpPr>
        <p:grpSpPr>
          <a:xfrm>
            <a:off x="1488191" y="4197184"/>
            <a:ext cx="2449901" cy="2196736"/>
            <a:chOff x="3895230" y="1570538"/>
            <a:chExt cx="2449901" cy="2196736"/>
          </a:xfrm>
        </p:grpSpPr>
        <p:grpSp>
          <p:nvGrpSpPr>
            <p:cNvPr id="34" name="Groupe 33"/>
            <p:cNvGrpSpPr/>
            <p:nvPr/>
          </p:nvGrpSpPr>
          <p:grpSpPr>
            <a:xfrm>
              <a:off x="4413340" y="1570538"/>
              <a:ext cx="1413679" cy="1380803"/>
              <a:chOff x="1229319" y="5593654"/>
              <a:chExt cx="1128160" cy="1101924"/>
            </a:xfrm>
          </p:grpSpPr>
          <p:sp>
            <p:nvSpPr>
              <p:cNvPr id="32" name="Ellipse 31"/>
              <p:cNvSpPr/>
              <p:nvPr/>
            </p:nvSpPr>
            <p:spPr>
              <a:xfrm>
                <a:off x="1229319" y="5593654"/>
                <a:ext cx="1128160" cy="1101924"/>
              </a:xfrm>
              <a:prstGeom prst="ellipse">
                <a:avLst/>
              </a:prstGeom>
              <a:solidFill>
                <a:srgbClr val="FF9999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0" name="Image 29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79178" y="5761959"/>
                <a:ext cx="816917" cy="816917"/>
              </a:xfrm>
              <a:prstGeom prst="rect">
                <a:avLst/>
              </a:prstGeom>
            </p:spPr>
          </p:pic>
        </p:grpSp>
        <p:sp>
          <p:nvSpPr>
            <p:cNvPr id="35" name="ZoneTexte 34"/>
            <p:cNvSpPr txBox="1"/>
            <p:nvPr/>
          </p:nvSpPr>
          <p:spPr>
            <a:xfrm>
              <a:off x="3895230" y="3059388"/>
              <a:ext cx="24499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Voir les supports et les feedbacks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816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llipse 34"/>
          <p:cNvSpPr/>
          <p:nvPr/>
        </p:nvSpPr>
        <p:spPr>
          <a:xfrm>
            <a:off x="3373888" y="849558"/>
            <a:ext cx="5523668" cy="55236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e 26"/>
          <p:cNvGrpSpPr/>
          <p:nvPr/>
        </p:nvGrpSpPr>
        <p:grpSpPr>
          <a:xfrm>
            <a:off x="2179797" y="1756893"/>
            <a:ext cx="2732691" cy="2137494"/>
            <a:chOff x="3718267" y="428511"/>
            <a:chExt cx="2449901" cy="1916297"/>
          </a:xfrm>
        </p:grpSpPr>
        <p:sp>
          <p:nvSpPr>
            <p:cNvPr id="9" name="ZoneTexte 8"/>
            <p:cNvSpPr txBox="1"/>
            <p:nvPr/>
          </p:nvSpPr>
          <p:spPr>
            <a:xfrm>
              <a:off x="3718267" y="1944698"/>
              <a:ext cx="24499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Performance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grpSp>
          <p:nvGrpSpPr>
            <p:cNvPr id="20" name="Groupe 19"/>
            <p:cNvGrpSpPr/>
            <p:nvPr/>
          </p:nvGrpSpPr>
          <p:grpSpPr>
            <a:xfrm>
              <a:off x="4228942" y="428511"/>
              <a:ext cx="1411620" cy="1378792"/>
              <a:chOff x="4228942" y="428511"/>
              <a:chExt cx="1411620" cy="1378792"/>
            </a:xfrm>
          </p:grpSpPr>
          <p:sp>
            <p:nvSpPr>
              <p:cNvPr id="10" name="Ellipse 9"/>
              <p:cNvSpPr/>
              <p:nvPr/>
            </p:nvSpPr>
            <p:spPr>
              <a:xfrm>
                <a:off x="4228942" y="428511"/>
                <a:ext cx="1411620" cy="1378792"/>
              </a:xfrm>
              <a:prstGeom prst="ellipse">
                <a:avLst/>
              </a:prstGeom>
              <a:solidFill>
                <a:srgbClr val="828DB5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" name="Image 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7095" y="620250"/>
                <a:ext cx="1012247" cy="1012247"/>
              </a:xfrm>
              <a:prstGeom prst="rect">
                <a:avLst/>
              </a:prstGeom>
            </p:spPr>
          </p:pic>
        </p:grpSp>
      </p:grpSp>
      <p:grpSp>
        <p:nvGrpSpPr>
          <p:cNvPr id="31" name="Groupe 30"/>
          <p:cNvGrpSpPr/>
          <p:nvPr/>
        </p:nvGrpSpPr>
        <p:grpSpPr>
          <a:xfrm>
            <a:off x="4673599" y="180719"/>
            <a:ext cx="2732691" cy="2147136"/>
            <a:chOff x="2928496" y="4665004"/>
            <a:chExt cx="2449901" cy="1924942"/>
          </a:xfrm>
        </p:grpSpPr>
        <p:grpSp>
          <p:nvGrpSpPr>
            <p:cNvPr id="17" name="Groupe 16"/>
            <p:cNvGrpSpPr/>
            <p:nvPr/>
          </p:nvGrpSpPr>
          <p:grpSpPr>
            <a:xfrm>
              <a:off x="3419005" y="4665004"/>
              <a:ext cx="1411620" cy="1378792"/>
              <a:chOff x="3419005" y="4648070"/>
              <a:chExt cx="1411620" cy="1378792"/>
            </a:xfrm>
          </p:grpSpPr>
          <p:sp>
            <p:nvSpPr>
              <p:cNvPr id="13" name="Ellipse 12"/>
              <p:cNvSpPr/>
              <p:nvPr/>
            </p:nvSpPr>
            <p:spPr>
              <a:xfrm>
                <a:off x="3419005" y="4648070"/>
                <a:ext cx="1411620" cy="1378792"/>
              </a:xfrm>
              <a:prstGeom prst="ellipse">
                <a:avLst/>
              </a:prstGeom>
              <a:solidFill>
                <a:srgbClr val="828DB5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" name="Image 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75248" y="4804833"/>
                <a:ext cx="1065266" cy="1065266"/>
              </a:xfrm>
              <a:prstGeom prst="rect">
                <a:avLst/>
              </a:prstGeom>
            </p:spPr>
          </p:pic>
        </p:grpSp>
        <p:sp>
          <p:nvSpPr>
            <p:cNvPr id="22" name="ZoneTexte 21"/>
            <p:cNvSpPr txBox="1"/>
            <p:nvPr/>
          </p:nvSpPr>
          <p:spPr>
            <a:xfrm>
              <a:off x="2928496" y="6189836"/>
              <a:ext cx="24499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Convivialité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0" name="Groupe 29"/>
          <p:cNvGrpSpPr/>
          <p:nvPr/>
        </p:nvGrpSpPr>
        <p:grpSpPr>
          <a:xfrm>
            <a:off x="6512016" y="4553327"/>
            <a:ext cx="2732691" cy="2118407"/>
            <a:chOff x="7704839" y="3424815"/>
            <a:chExt cx="2449901" cy="1899185"/>
          </a:xfrm>
        </p:grpSpPr>
        <p:grpSp>
          <p:nvGrpSpPr>
            <p:cNvPr id="18" name="Groupe 17"/>
            <p:cNvGrpSpPr/>
            <p:nvPr/>
          </p:nvGrpSpPr>
          <p:grpSpPr>
            <a:xfrm>
              <a:off x="8223980" y="3424815"/>
              <a:ext cx="1411620" cy="1378791"/>
              <a:chOff x="8223980" y="3424815"/>
              <a:chExt cx="1411620" cy="1378791"/>
            </a:xfrm>
          </p:grpSpPr>
          <p:sp>
            <p:nvSpPr>
              <p:cNvPr id="16" name="Ellipse 15"/>
              <p:cNvSpPr/>
              <p:nvPr/>
            </p:nvSpPr>
            <p:spPr>
              <a:xfrm>
                <a:off x="8223980" y="3424815"/>
                <a:ext cx="1411620" cy="1378791"/>
              </a:xfrm>
              <a:prstGeom prst="ellipse">
                <a:avLst/>
              </a:prstGeom>
              <a:solidFill>
                <a:srgbClr val="828DB5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41518" y="3625939"/>
                <a:ext cx="976544" cy="976544"/>
              </a:xfrm>
              <a:prstGeom prst="rect">
                <a:avLst/>
              </a:prstGeom>
            </p:spPr>
          </p:pic>
        </p:grpSp>
        <p:sp>
          <p:nvSpPr>
            <p:cNvPr id="23" name="ZoneTexte 22"/>
            <p:cNvSpPr txBox="1"/>
            <p:nvPr/>
          </p:nvSpPr>
          <p:spPr>
            <a:xfrm>
              <a:off x="7704839" y="4923890"/>
              <a:ext cx="24499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Sécurité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6" name="Groupe 25"/>
          <p:cNvGrpSpPr/>
          <p:nvPr/>
        </p:nvGrpSpPr>
        <p:grpSpPr>
          <a:xfrm>
            <a:off x="3140000" y="4606005"/>
            <a:ext cx="2732691" cy="2040606"/>
            <a:chOff x="-215353" y="1469440"/>
            <a:chExt cx="2449901" cy="1829436"/>
          </a:xfrm>
          <a:solidFill>
            <a:srgbClr val="828DB5"/>
          </a:solidFill>
        </p:grpSpPr>
        <p:grpSp>
          <p:nvGrpSpPr>
            <p:cNvPr id="21" name="Groupe 20"/>
            <p:cNvGrpSpPr/>
            <p:nvPr/>
          </p:nvGrpSpPr>
          <p:grpSpPr>
            <a:xfrm>
              <a:off x="303789" y="1469440"/>
              <a:ext cx="1411620" cy="1378792"/>
              <a:chOff x="303789" y="1469440"/>
              <a:chExt cx="1411620" cy="1378792"/>
            </a:xfrm>
            <a:grpFill/>
          </p:grpSpPr>
          <p:sp>
            <p:nvSpPr>
              <p:cNvPr id="14" name="Ellipse 13"/>
              <p:cNvSpPr/>
              <p:nvPr/>
            </p:nvSpPr>
            <p:spPr>
              <a:xfrm>
                <a:off x="303789" y="1469440"/>
                <a:ext cx="1411620" cy="1378792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3" name="Image 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449" y="1737686"/>
                <a:ext cx="842299" cy="842299"/>
              </a:xfrm>
              <a:prstGeom prst="rect">
                <a:avLst/>
              </a:prstGeom>
              <a:grpFill/>
            </p:spPr>
          </p:pic>
        </p:grpSp>
        <p:sp>
          <p:nvSpPr>
            <p:cNvPr id="24" name="ZoneTexte 23"/>
            <p:cNvSpPr txBox="1"/>
            <p:nvPr/>
          </p:nvSpPr>
          <p:spPr>
            <a:xfrm>
              <a:off x="-215353" y="2967403"/>
              <a:ext cx="2449901" cy="331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Evolutivité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9" name="Groupe 28"/>
          <p:cNvGrpSpPr/>
          <p:nvPr/>
        </p:nvGrpSpPr>
        <p:grpSpPr>
          <a:xfrm>
            <a:off x="7129391" y="1614624"/>
            <a:ext cx="2732691" cy="2128049"/>
            <a:chOff x="7787354" y="428511"/>
            <a:chExt cx="2449901" cy="1907830"/>
          </a:xfrm>
        </p:grpSpPr>
        <p:grpSp>
          <p:nvGrpSpPr>
            <p:cNvPr id="28" name="Groupe 27"/>
            <p:cNvGrpSpPr/>
            <p:nvPr/>
          </p:nvGrpSpPr>
          <p:grpSpPr>
            <a:xfrm>
              <a:off x="8306494" y="428511"/>
              <a:ext cx="1411620" cy="1378792"/>
              <a:chOff x="8306495" y="394822"/>
              <a:chExt cx="1411620" cy="1378792"/>
            </a:xfrm>
          </p:grpSpPr>
          <p:sp>
            <p:nvSpPr>
              <p:cNvPr id="15" name="Ellipse 14"/>
              <p:cNvSpPr/>
              <p:nvPr/>
            </p:nvSpPr>
            <p:spPr>
              <a:xfrm>
                <a:off x="8306495" y="394822"/>
                <a:ext cx="1411620" cy="1378792"/>
              </a:xfrm>
              <a:prstGeom prst="ellipse">
                <a:avLst/>
              </a:prstGeom>
              <a:solidFill>
                <a:srgbClr val="828DB5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4692" y="629671"/>
                <a:ext cx="909093" cy="909093"/>
              </a:xfrm>
              <a:prstGeom prst="rect">
                <a:avLst/>
              </a:prstGeom>
            </p:spPr>
          </p:pic>
        </p:grpSp>
        <p:sp>
          <p:nvSpPr>
            <p:cNvPr id="25" name="ZoneTexte 24"/>
            <p:cNvSpPr txBox="1"/>
            <p:nvPr/>
          </p:nvSpPr>
          <p:spPr>
            <a:xfrm>
              <a:off x="7787354" y="1936231"/>
              <a:ext cx="24499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 smtClean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Extensibilité</a:t>
              </a:r>
              <a:endParaRPr lang="en-US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38" name="Image 3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800" y="2380029"/>
            <a:ext cx="2458101" cy="245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0" y="1442357"/>
            <a:ext cx="9353012" cy="52610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40762" y="386811"/>
            <a:ext cx="69637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Méthodologie 2TUP</a:t>
            </a:r>
            <a:endParaRPr lang="fr-FR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45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39231" y="2507841"/>
            <a:ext cx="693651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8800" b="1" spc="50" dirty="0" smtClean="0">
                <a:ln w="38100">
                  <a:solidFill>
                    <a:srgbClr val="FF9999"/>
                  </a:solidFill>
                </a:ln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Conception</a:t>
            </a:r>
            <a:endParaRPr lang="fr-FR" sz="8800" b="1" spc="50" dirty="0">
              <a:ln w="38100">
                <a:solidFill>
                  <a:srgbClr val="FF9999"/>
                </a:solidFill>
              </a:ln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09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1873" y="386811"/>
            <a:ext cx="92015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Langage de modélisation</a:t>
            </a:r>
            <a:endParaRPr lang="fr-FR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497" y="3839882"/>
            <a:ext cx="4876309" cy="2535681"/>
          </a:xfrm>
          <a:prstGeom prst="rect">
            <a:avLst/>
          </a:prstGeom>
          <a:ln w="38100" cap="sq">
            <a:solidFill>
              <a:srgbClr val="FF9999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ZoneTexte 3"/>
          <p:cNvSpPr txBox="1"/>
          <p:nvPr/>
        </p:nvSpPr>
        <p:spPr>
          <a:xfrm>
            <a:off x="995423" y="1539433"/>
            <a:ext cx="105676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Le langage UML (</a:t>
            </a:r>
            <a:r>
              <a:rPr lang="fr-FR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Unified</a:t>
            </a:r>
            <a:r>
              <a:rPr lang="fr-F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28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Modeling</a:t>
            </a:r>
            <a:r>
              <a:rPr lang="fr-F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fr-FR" sz="2800" dirty="0" err="1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Language</a:t>
            </a:r>
            <a:r>
              <a:rPr lang="fr-FR" sz="2800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est </a:t>
            </a:r>
            <a:r>
              <a:rPr lang="fr-F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destiné à l'architecture, la conception et la mise en œuvre de systèmes logiciels complexes par leur structure aussi bien que leur </a:t>
            </a:r>
            <a:r>
              <a:rPr lang="fr-FR" sz="2800" dirty="0" smtClean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comportement.</a:t>
            </a: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17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38112" y="386811"/>
            <a:ext cx="29690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Acteurs</a:t>
            </a:r>
            <a:endParaRPr lang="fr-FR" sz="5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78332" y="1591355"/>
            <a:ext cx="232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8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err="1" smtClean="0">
                <a:solidFill>
                  <a:srgbClr val="FF999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Utilisateur</a:t>
            </a:r>
            <a:r>
              <a:rPr lang="en-US" sz="2800" dirty="0" smtClean="0">
                <a:solidFill>
                  <a:srgbClr val="FF999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:</a:t>
            </a:r>
            <a:endParaRPr lang="en-US" sz="2800" dirty="0">
              <a:solidFill>
                <a:srgbClr val="FF999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903" y="2350234"/>
            <a:ext cx="2248621" cy="225605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018" y="2395789"/>
            <a:ext cx="2243597" cy="2251011"/>
          </a:xfrm>
          <a:prstGeom prst="rect">
            <a:avLst/>
          </a:prstGeom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295450" y="1656810"/>
            <a:ext cx="32522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8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err="1" smtClean="0">
                <a:solidFill>
                  <a:srgbClr val="FF999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Administrateur</a:t>
            </a:r>
            <a:r>
              <a:rPr lang="en-US" sz="2800" dirty="0" smtClean="0">
                <a:solidFill>
                  <a:srgbClr val="FF999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: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27" y="2481857"/>
            <a:ext cx="2130909" cy="216494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946" y="2478327"/>
            <a:ext cx="2134384" cy="216847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17179" y="4869681"/>
            <a:ext cx="384686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800" b="1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Etudiant</a:t>
            </a:r>
          </a:p>
          <a:p>
            <a:pPr algn="ctr"/>
            <a:r>
              <a:rPr lang="fr-FR" sz="28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Elève</a:t>
            </a:r>
            <a:endParaRPr lang="fr-FR" sz="28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98139" y="4931235"/>
            <a:ext cx="3846869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400" b="1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Administration</a:t>
            </a:r>
          </a:p>
          <a:p>
            <a:pPr algn="ctr"/>
            <a:r>
              <a:rPr lang="fr-FR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Professeur</a:t>
            </a:r>
            <a:endParaRPr lang="fr-FR" sz="2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06" y="2355014"/>
            <a:ext cx="2251272" cy="22512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28947" y="1591355"/>
            <a:ext cx="23245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8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err="1" smtClean="0">
                <a:solidFill>
                  <a:srgbClr val="FF999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Visiteur</a:t>
            </a:r>
            <a:r>
              <a:rPr lang="en-US" sz="2800" dirty="0" smtClean="0">
                <a:solidFill>
                  <a:srgbClr val="FF999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:</a:t>
            </a:r>
            <a:endParaRPr lang="en-US" sz="2800" dirty="0">
              <a:solidFill>
                <a:srgbClr val="FF9999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332206" y="4928014"/>
            <a:ext cx="384686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800" b="1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Visiteur</a:t>
            </a:r>
            <a:endParaRPr lang="fr-FR" sz="28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6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76826" y="254643"/>
            <a:ext cx="1415298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Diagramme de cas d’utilisation global</a:t>
            </a:r>
            <a:endParaRPr lang="fr-FR" sz="4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277" y="1162574"/>
            <a:ext cx="7314781" cy="5548570"/>
          </a:xfrm>
          <a:prstGeom prst="rect">
            <a:avLst/>
          </a:prstGeom>
          <a:ln w="28575">
            <a:solidFill>
              <a:srgbClr val="FF9999"/>
            </a:solidFill>
          </a:ln>
        </p:spPr>
      </p:pic>
    </p:spTree>
    <p:extLst>
      <p:ext uri="{BB962C8B-B14F-4D97-AF65-F5344CB8AC3E}">
        <p14:creationId xmlns:p14="http://schemas.microsoft.com/office/powerpoint/2010/main" val="46582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506770" y="872145"/>
            <a:ext cx="5147035" cy="5885727"/>
          </a:xfrm>
          <a:prstGeom prst="rect">
            <a:avLst/>
          </a:prstGeom>
          <a:solidFill>
            <a:schemeClr val="bg1"/>
          </a:solidFill>
          <a:ln w="28575"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510586" y="102704"/>
            <a:ext cx="688693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4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Diagramme de classes</a:t>
            </a:r>
            <a:endParaRPr lang="fr-FR" sz="44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612" y="972273"/>
            <a:ext cx="3240887" cy="568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0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43557" y="333481"/>
            <a:ext cx="523733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L’architecture MVC</a:t>
            </a:r>
            <a:endParaRPr lang="fr-FR" sz="40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60" y="1265848"/>
            <a:ext cx="10402726" cy="4699937"/>
          </a:xfrm>
          <a:prstGeom prst="rect">
            <a:avLst/>
          </a:prstGeom>
          <a:ln w="19050">
            <a:solidFill>
              <a:srgbClr val="FF9999"/>
            </a:solidFill>
          </a:ln>
        </p:spPr>
      </p:pic>
    </p:spTree>
    <p:extLst>
      <p:ext uri="{BB962C8B-B14F-4D97-AF65-F5344CB8AC3E}">
        <p14:creationId xmlns:p14="http://schemas.microsoft.com/office/powerpoint/2010/main" val="335730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69345" y="333481"/>
            <a:ext cx="41857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Demonstration</a:t>
            </a:r>
            <a:endParaRPr lang="fr-FR" sz="40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95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4843" y="267493"/>
            <a:ext cx="62616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Environnement logiciel</a:t>
            </a:r>
            <a:endParaRPr lang="fr-FR" sz="40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679" y="3090779"/>
            <a:ext cx="1403356" cy="140335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58" y="1484566"/>
            <a:ext cx="2239385" cy="114850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129" y="5468481"/>
            <a:ext cx="1822757" cy="96112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327" y="5174586"/>
            <a:ext cx="1327268" cy="132726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44" y="1312633"/>
            <a:ext cx="1058650" cy="1492369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58" y="5029394"/>
            <a:ext cx="1502355" cy="150235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252" y="3335308"/>
            <a:ext cx="2073558" cy="116637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07" y="3160337"/>
            <a:ext cx="2385405" cy="134179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494" y="1501849"/>
            <a:ext cx="2399114" cy="134873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016" y="5087734"/>
            <a:ext cx="2142424" cy="119423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109" y="5468481"/>
            <a:ext cx="1505308" cy="777717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999" y="3142257"/>
            <a:ext cx="1448011" cy="1402476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348" y="1855255"/>
            <a:ext cx="2214726" cy="641925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020" y="1152164"/>
            <a:ext cx="1761830" cy="176183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763" y="3705999"/>
            <a:ext cx="2489196" cy="6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6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à coins arrondis 10"/>
          <p:cNvSpPr/>
          <p:nvPr/>
        </p:nvSpPr>
        <p:spPr>
          <a:xfrm>
            <a:off x="4672818" y="1876718"/>
            <a:ext cx="3133725" cy="3228975"/>
          </a:xfrm>
          <a:prstGeom prst="roundRect">
            <a:avLst/>
          </a:prstGeom>
          <a:solidFill>
            <a:srgbClr val="FF9999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à coins arrondis 9"/>
          <p:cNvSpPr/>
          <p:nvPr/>
        </p:nvSpPr>
        <p:spPr>
          <a:xfrm>
            <a:off x="8677960" y="1876719"/>
            <a:ext cx="3133725" cy="3228975"/>
          </a:xfrm>
          <a:prstGeom prst="roundRect">
            <a:avLst/>
          </a:prstGeom>
          <a:solidFill>
            <a:srgbClr val="FF9999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à coins arrondis 5"/>
          <p:cNvSpPr/>
          <p:nvPr/>
        </p:nvSpPr>
        <p:spPr>
          <a:xfrm>
            <a:off x="867460" y="1876718"/>
            <a:ext cx="3133725" cy="3228975"/>
          </a:xfrm>
          <a:prstGeom prst="roundRect">
            <a:avLst/>
          </a:prstGeom>
          <a:solidFill>
            <a:srgbClr val="FF9999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13350" y="534193"/>
            <a:ext cx="35846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b="1" dirty="0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Perspectives</a:t>
            </a:r>
            <a:endParaRPr lang="fr-FR" sz="40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918" y="2138657"/>
            <a:ext cx="2897339" cy="2897339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637" y="2138657"/>
            <a:ext cx="2638425" cy="26384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988" y="2205332"/>
            <a:ext cx="2571750" cy="25717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3539" y="5389272"/>
            <a:ext cx="366158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3200" b="1" cap="none" spc="50" dirty="0" smtClean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Fonctionnalités </a:t>
            </a:r>
          </a:p>
          <a:p>
            <a:pPr algn="ctr"/>
            <a:r>
              <a:rPr lang="fr-FR" sz="3200" b="1" cap="none" spc="50" dirty="0" smtClean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professeur</a:t>
            </a:r>
          </a:p>
          <a:p>
            <a:pPr algn="ctr"/>
            <a:endParaRPr lang="fr-FR" sz="3200" b="1" cap="none" spc="5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66645" y="5219995"/>
            <a:ext cx="2156360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3200" b="1" cap="none" spc="50" dirty="0" smtClean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Supports</a:t>
            </a:r>
          </a:p>
          <a:p>
            <a:pPr algn="ctr"/>
            <a:r>
              <a:rPr lang="fr-FR" sz="3200" b="1" cap="none" spc="50" dirty="0" smtClean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 PDF</a:t>
            </a:r>
            <a:endParaRPr lang="fr-FR" sz="3200" b="1" cap="none" spc="5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05822" y="5389272"/>
            <a:ext cx="266771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3200" b="1" cap="none" spc="50" dirty="0" smtClean="0">
                <a:ln w="0"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App mobile</a:t>
            </a:r>
            <a:endParaRPr lang="fr-FR" sz="3200" b="1" cap="none" spc="50" dirty="0">
              <a:ln w="0">
                <a:solidFill>
                  <a:sysClr val="windowText" lastClr="000000"/>
                </a:solidFill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87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87517" y="534193"/>
            <a:ext cx="383630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b="1" dirty="0" err="1" smtClean="0">
                <a:ln w="2857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Hebergement</a:t>
            </a:r>
            <a:endParaRPr lang="fr-FR" sz="4000" b="1" dirty="0">
              <a:ln w="2857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446" y="1510091"/>
            <a:ext cx="8540684" cy="475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62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-1139650"/>
            <a:ext cx="12553950" cy="946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61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954</TotalTime>
  <Words>188</Words>
  <Application>Microsoft Office PowerPoint</Application>
  <PresentationFormat>Grand écran</PresentationFormat>
  <Paragraphs>77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Poppins</vt:lpstr>
      <vt:lpstr>Reey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59</cp:revision>
  <dcterms:created xsi:type="dcterms:W3CDTF">2024-06-20T20:25:20Z</dcterms:created>
  <dcterms:modified xsi:type="dcterms:W3CDTF">2024-06-28T05:15:19Z</dcterms:modified>
</cp:coreProperties>
</file>